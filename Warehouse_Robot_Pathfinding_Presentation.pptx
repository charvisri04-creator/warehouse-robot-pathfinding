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74720" cy="914400"/>
          </a:xfrm>
          <a:prstGeom prst="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1005840"/>
            <a:ext cx="2404872" cy="914400"/>
          </a:xfrm>
          <a:prstGeom prst="rect">
            <a:avLst/>
          </a:prstGeom>
          <a:solidFill>
            <a:srgbClr val="14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21040" y="5394960"/>
            <a:ext cx="3867912" cy="1463040"/>
          </a:xfrm>
          <a:prstGeom prst="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3657600" cy="594360"/>
          </a:xfrm>
          <a:prstGeom prst="rect">
            <a:avLst/>
          </a:prstGeom>
          <a:solidFill>
            <a:srgbClr val="14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WAREHOUSE ROBOT</a:t>
            </a:r>
            <a:br/>
            <a:r>
              <a:t>PATHFINDING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57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E8F5"/>
                </a:solidFill>
                <a:latin typeface="Aptos"/>
              </a:defRPr>
            </a:pPr>
            <a:r>
              <a:t>A C++ project for finding efficient routes around warehouse obstacles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EDED8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D70BE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70BE"/>
                </a:solidFill>
                <a:latin typeface="Aptos"/>
              </a:defRPr>
            </a:pPr>
            <a:r>
              <a:t>What is Warehouse Robot Pathfinding?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99032"/>
            <a:ext cx="1143000" cy="54864"/>
          </a:xfrm>
          <a:prstGeom prst="rect">
            <a:avLst/>
          </a:prstGeom>
          <a:solidFill>
            <a:srgbClr val="14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A software simulation of a robot moving inside a warehouse.</a:t>
            </a:r>
          </a:p>
          <a:p>
            <a:pPr>
              <a:spcAft>
                <a:spcPts val="15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The warehouse is represented as a grid of cells.</a:t>
            </a:r>
          </a:p>
          <a:p>
            <a:pPr>
              <a:spcAft>
                <a:spcPts val="15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The robot travels from a starting point to a destination.</a:t>
            </a:r>
          </a:p>
          <a:p>
            <a:pPr>
              <a:spcAft>
                <a:spcPts val="15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It avoids blocked cells such as shelves and boxes.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D70B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99032"/>
            <a:ext cx="1143000" cy="54864"/>
          </a:xfrm>
          <a:prstGeom prst="rect">
            <a:avLst/>
          </a:prstGeom>
          <a:solidFill>
            <a:srgbClr val="14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A warehouse robot must reach the packing station.</a:t>
            </a:r>
          </a:p>
          <a:p>
            <a:pPr>
              <a:spcAft>
                <a:spcPts val="15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Some grid cells contain obstacles and cannot be crossed.</a:t>
            </a:r>
          </a:p>
          <a:p>
            <a:pPr>
              <a:spcAft>
                <a:spcPts val="15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The program should find a valid, efficient path.</a:t>
            </a:r>
          </a:p>
          <a:p>
            <a:pPr>
              <a:spcAft>
                <a:spcPts val="15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If no route exists, it should report that no path was found.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D70B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  <a:latin typeface="Aptos Display"/>
              </a:defRPr>
            </a:pPr>
            <a:r>
              <a:t>3.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99032"/>
            <a:ext cx="1143000" cy="54864"/>
          </a:xfrm>
          <a:prstGeom prst="rect">
            <a:avLst/>
          </a:prstGeom>
          <a:solidFill>
            <a:srgbClr val="14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Find an efficient path to the destination.</a:t>
            </a:r>
          </a:p>
          <a:p>
            <a:pPr>
              <a:spcAft>
                <a:spcPts val="15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Avoid obstacles during navigation.</a:t>
            </a:r>
          </a:p>
          <a:p>
            <a:pPr>
              <a:spcAft>
                <a:spcPts val="15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Explore reachable warehouse areas.</a:t>
            </a:r>
          </a:p>
          <a:p>
            <a:pPr>
              <a:spcAft>
                <a:spcPts val="15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Manage pickup and delivery tasks in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D70B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  <a:latin typeface="Aptos Display"/>
              </a:defRPr>
            </a:pPr>
            <a:r>
              <a:t>4. Warehouse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70BE"/>
                </a:solidFill>
                <a:latin typeface="Aptos"/>
              </a:defRPr>
            </a:pPr>
            <a:r>
              <a:t>Example map used to explain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99032"/>
            <a:ext cx="1143000" cy="54864"/>
          </a:xfrm>
          <a:prstGeom prst="rect">
            <a:avLst/>
          </a:prstGeom>
          <a:solidFill>
            <a:srgbClr val="14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713232" cy="621792"/>
          </a:xfrm>
          <a:prstGeom prst="roundRect">
            <a:avLst/>
          </a:prstGeom>
          <a:solidFill>
            <a:srgbClr val="14918C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83664" y="1828800"/>
            <a:ext cx="713232" cy="621792"/>
          </a:xfrm>
          <a:prstGeom prst="roundRect">
            <a:avLst/>
          </a:prstGeom>
          <a:solidFill>
            <a:srgbClr val="EBF1F8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0048" y="1828800"/>
            <a:ext cx="713232" cy="621792"/>
          </a:xfrm>
          <a:prstGeom prst="roundRect">
            <a:avLst/>
          </a:prstGeom>
          <a:solidFill>
            <a:srgbClr val="143056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828800"/>
            <a:ext cx="713232" cy="621792"/>
          </a:xfrm>
          <a:prstGeom prst="roundRect">
            <a:avLst/>
          </a:prstGeom>
          <a:solidFill>
            <a:srgbClr val="EBF1F8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28800"/>
            <a:ext cx="713232" cy="621792"/>
          </a:xfrm>
          <a:prstGeom prst="roundRect">
            <a:avLst/>
          </a:prstGeom>
          <a:solidFill>
            <a:srgbClr val="EBF1F8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523744"/>
            <a:ext cx="713232" cy="621792"/>
          </a:xfrm>
          <a:prstGeom prst="roundRect">
            <a:avLst/>
          </a:prstGeom>
          <a:solidFill>
            <a:srgbClr val="EBF1F8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83664" y="2523744"/>
            <a:ext cx="713232" cy="621792"/>
          </a:xfrm>
          <a:prstGeom prst="roundRect">
            <a:avLst/>
          </a:prstGeom>
          <a:solidFill>
            <a:srgbClr val="EBF1F8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0048" y="2523744"/>
            <a:ext cx="713232" cy="621792"/>
          </a:xfrm>
          <a:prstGeom prst="roundRect">
            <a:avLst/>
          </a:prstGeom>
          <a:solidFill>
            <a:srgbClr val="143056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2523744"/>
            <a:ext cx="713232" cy="621792"/>
          </a:xfrm>
          <a:prstGeom prst="roundRect">
            <a:avLst/>
          </a:prstGeom>
          <a:solidFill>
            <a:srgbClr val="EBF1F8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2816" y="2523744"/>
            <a:ext cx="713232" cy="621792"/>
          </a:xfrm>
          <a:prstGeom prst="roundRect">
            <a:avLst/>
          </a:prstGeom>
          <a:solidFill>
            <a:srgbClr val="EBF1F8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218688"/>
            <a:ext cx="713232" cy="621792"/>
          </a:xfrm>
          <a:prstGeom prst="roundRect">
            <a:avLst/>
          </a:prstGeom>
          <a:solidFill>
            <a:srgbClr val="EBF1F8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83664" y="3218688"/>
            <a:ext cx="713232" cy="621792"/>
          </a:xfrm>
          <a:prstGeom prst="roundRect">
            <a:avLst/>
          </a:prstGeom>
          <a:solidFill>
            <a:srgbClr val="EBF1F8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70048" y="3218688"/>
            <a:ext cx="713232" cy="621792"/>
          </a:xfrm>
          <a:prstGeom prst="roundRect">
            <a:avLst/>
          </a:prstGeom>
          <a:solidFill>
            <a:srgbClr val="EBF1F8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6432" y="3218688"/>
            <a:ext cx="713232" cy="621792"/>
          </a:xfrm>
          <a:prstGeom prst="roundRect">
            <a:avLst/>
          </a:prstGeom>
          <a:solidFill>
            <a:srgbClr val="EBF1F8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2816" y="3218688"/>
            <a:ext cx="713232" cy="621792"/>
          </a:xfrm>
          <a:prstGeom prst="roundRect">
            <a:avLst/>
          </a:prstGeom>
          <a:solidFill>
            <a:srgbClr val="EBF1F8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913632"/>
            <a:ext cx="713232" cy="621792"/>
          </a:xfrm>
          <a:prstGeom prst="roundRect">
            <a:avLst/>
          </a:prstGeom>
          <a:solidFill>
            <a:srgbClr val="143056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83664" y="3913632"/>
            <a:ext cx="713232" cy="621792"/>
          </a:xfrm>
          <a:prstGeom prst="roundRect">
            <a:avLst/>
          </a:prstGeom>
          <a:solidFill>
            <a:srgbClr val="143056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70048" y="3913632"/>
            <a:ext cx="713232" cy="621792"/>
          </a:xfrm>
          <a:prstGeom prst="roundRect">
            <a:avLst/>
          </a:prstGeom>
          <a:solidFill>
            <a:srgbClr val="EBF1F8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6432" y="3913632"/>
            <a:ext cx="713232" cy="621792"/>
          </a:xfrm>
          <a:prstGeom prst="roundRect">
            <a:avLst/>
          </a:prstGeom>
          <a:solidFill>
            <a:srgbClr val="143056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42816" y="3913632"/>
            <a:ext cx="713232" cy="621792"/>
          </a:xfrm>
          <a:prstGeom prst="roundRect">
            <a:avLst/>
          </a:prstGeom>
          <a:solidFill>
            <a:srgbClr val="EBF1F8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608576"/>
            <a:ext cx="713232" cy="621792"/>
          </a:xfrm>
          <a:prstGeom prst="roundRect">
            <a:avLst/>
          </a:prstGeom>
          <a:solidFill>
            <a:srgbClr val="EBF1F8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83664" y="4608576"/>
            <a:ext cx="713232" cy="621792"/>
          </a:xfrm>
          <a:prstGeom prst="roundRect">
            <a:avLst/>
          </a:prstGeom>
          <a:solidFill>
            <a:srgbClr val="EBF1F8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70048" y="4608576"/>
            <a:ext cx="713232" cy="621792"/>
          </a:xfrm>
          <a:prstGeom prst="roundRect">
            <a:avLst/>
          </a:prstGeom>
          <a:solidFill>
            <a:srgbClr val="EBF1F8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56432" y="4608576"/>
            <a:ext cx="713232" cy="621792"/>
          </a:xfrm>
          <a:prstGeom prst="roundRect">
            <a:avLst/>
          </a:prstGeom>
          <a:solidFill>
            <a:srgbClr val="EBF1F8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42816" y="4608576"/>
            <a:ext cx="713232" cy="621792"/>
          </a:xfrm>
          <a:prstGeom prst="roundRect">
            <a:avLst/>
          </a:prstGeom>
          <a:solidFill>
            <a:srgbClr val="EE8E36"/>
          </a:solidFill>
          <a:ln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205740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14918C"/>
                </a:solidFill>
                <a:latin typeface="Aptos"/>
              </a:defRPr>
            </a:pPr>
            <a:r>
              <a:t>S — Start: Robot's starting cell</a:t>
            </a:r>
          </a:p>
          <a:p>
            <a:pPr>
              <a:spcAft>
                <a:spcPts val="2000"/>
              </a:spcAft>
              <a:defRPr sz="2000">
                <a:solidFill>
                  <a:srgbClr val="EE8E36"/>
                </a:solidFill>
                <a:latin typeface="Aptos"/>
              </a:defRPr>
            </a:pPr>
            <a:r>
              <a:t>G — Goal: Packing station</a:t>
            </a:r>
          </a:p>
          <a:p>
            <a:pPr>
              <a:spcAft>
                <a:spcPts val="2000"/>
              </a:spcAft>
              <a:defRPr sz="2000">
                <a:solidFill>
                  <a:srgbClr val="143056"/>
                </a:solidFill>
                <a:latin typeface="Aptos"/>
              </a:defRPr>
            </a:pPr>
            <a:r>
              <a:t># — Obstacle: Blocked cell</a:t>
            </a:r>
          </a:p>
          <a:p>
            <a:pPr>
              <a:spcAft>
                <a:spcPts val="2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. — Free cell: Cell the robot can 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6235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The robot can move one cell at a time in four directions.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D70BE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  <a:latin typeface="Aptos Display"/>
              </a:defRPr>
            </a:pPr>
            <a:r>
              <a:t>5. Algorithms and Data Structures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99032"/>
            <a:ext cx="1143000" cy="54864"/>
          </a:xfrm>
          <a:prstGeom prst="rect">
            <a:avLst/>
          </a:prstGeom>
          <a:solidFill>
            <a:srgbClr val="14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A* Search: finds an efficient path using distance and a heuristic.</a:t>
            </a:r>
          </a:p>
          <a:p>
            <a:pPr>
              <a:spcAft>
                <a:spcPts val="15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Manhattan distance: estimates how far a cell is from the goal.</a:t>
            </a:r>
          </a:p>
          <a:p>
            <a:pPr>
              <a:spcAft>
                <a:spcPts val="15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DFS: explores reachable cells in the warehouse.</a:t>
            </a:r>
          </a:p>
          <a:p>
            <a:pPr>
              <a:spcAft>
                <a:spcPts val="15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Queue: processes pickup and delivery tasks in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D70BE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  <a:latin typeface="Aptos Display"/>
              </a:defRPr>
            </a:pPr>
            <a:r>
              <a:t>6. Working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99032"/>
            <a:ext cx="1143000" cy="54864"/>
          </a:xfrm>
          <a:prstGeom prst="rect">
            <a:avLst/>
          </a:prstGeom>
          <a:solidFill>
            <a:srgbClr val="14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246120" cy="960120"/>
          </a:xfrm>
          <a:prstGeom prst="round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1. Create grid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828800"/>
            <a:ext cx="3246120" cy="960120"/>
          </a:xfrm>
          <a:prstGeom prst="roundRect">
            <a:avLst/>
          </a:prstGeom>
          <a:solidFill>
            <a:srgbClr val="14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2. Set start and goal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828800"/>
            <a:ext cx="3246120" cy="960120"/>
          </a:xfrm>
          <a:prstGeom prst="roundRect">
            <a:avLst/>
          </a:prstGeom>
          <a:solidFill>
            <a:srgbClr val="EE8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3. Mark obstacles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3246120" cy="960120"/>
          </a:xfrm>
          <a:prstGeom prst="round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4. Run A*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657600"/>
            <a:ext cx="3246120" cy="960120"/>
          </a:xfrm>
          <a:prstGeom prst="roundRect">
            <a:avLst/>
          </a:prstGeom>
          <a:solidFill>
            <a:srgbClr val="14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5. Display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657600"/>
            <a:ext cx="3246120" cy="960120"/>
          </a:xfrm>
          <a:prstGeom prst="roundRect">
            <a:avLst/>
          </a:prstGeom>
          <a:solidFill>
            <a:srgbClr val="EE8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6. Process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If no path exists, display “No path found.”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D70BE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  <a:latin typeface="Aptos Display"/>
              </a:defRPr>
            </a:pPr>
            <a:r>
              <a:t>7. Sample Input and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99032"/>
            <a:ext cx="1143000" cy="54864"/>
          </a:xfrm>
          <a:prstGeom prst="rect">
            <a:avLst/>
          </a:prstGeom>
          <a:solidFill>
            <a:srgbClr val="14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4846320" cy="4343400"/>
          </a:xfrm>
          <a:prstGeom prst="roundRect">
            <a:avLst/>
          </a:prstGeom>
          <a:solidFill>
            <a:srgbClr val="14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3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Input grid: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S . # . .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. . # . .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. . . . .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# # . # .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. . . . G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Example path: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S * # . .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. * # . .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. * * * *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# # . # *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. . . .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2860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S = Start</a:t>
            </a:r>
          </a:p>
          <a:p>
            <a:pPr>
              <a:spcAft>
                <a:spcPts val="15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G = Goal</a:t>
            </a:r>
          </a:p>
          <a:p>
            <a:pPr>
              <a:spcAft>
                <a:spcPts val="15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# = Obstacle</a:t>
            </a:r>
          </a:p>
          <a:p>
            <a:pPr>
              <a:spcAft>
                <a:spcPts val="15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* = Selected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D70BE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  <a:latin typeface="Aptos Display"/>
              </a:defRPr>
            </a:pPr>
            <a:r>
              <a:t>8. Time Complexity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99032"/>
            <a:ext cx="1143000" cy="54864"/>
          </a:xfrm>
          <a:prstGeom prst="rect">
            <a:avLst/>
          </a:prstGeom>
          <a:solidFill>
            <a:srgbClr val="14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A* Search: commonly O(V log V) with a suitable priority queue implementation.</a:t>
            </a:r>
          </a:p>
          <a:p>
            <a:pPr>
              <a:spcAft>
                <a:spcPts val="15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DFS: O(V + E).</a:t>
            </a:r>
          </a:p>
          <a:p>
            <a:pPr>
              <a:spcAft>
                <a:spcPts val="15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Queue enqueue/dequeue: O(1).</a:t>
            </a:r>
          </a:p>
          <a:p>
            <a:pPr>
              <a:spcAft>
                <a:spcPts val="15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V = number of grid cells (vertices); E = connections between cells (edges).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D70BE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  <a:latin typeface="Aptos Display"/>
              </a:defRPr>
            </a:pPr>
            <a:r>
              <a:t>9.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70BE"/>
                </a:solidFill>
                <a:latin typeface="Aptos"/>
              </a:defRPr>
            </a:pPr>
            <a:r>
              <a:t>Overall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99032"/>
            <a:ext cx="1143000" cy="54864"/>
          </a:xfrm>
          <a:prstGeom prst="rect">
            <a:avLst/>
          </a:prstGeom>
          <a:solidFill>
            <a:srgbClr val="14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907127" y="1645920"/>
            <a:ext cx="2377440" cy="384048"/>
          </a:xfrm>
          <a:prstGeom prst="ellipse">
            <a:avLst/>
          </a:prstGeom>
          <a:solidFill>
            <a:srgbClr val="14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6" name="Down Arrow 5"/>
          <p:cNvSpPr/>
          <p:nvPr/>
        </p:nvSpPr>
        <p:spPr>
          <a:xfrm>
            <a:off x="5897880" y="2029968"/>
            <a:ext cx="384048" cy="118872"/>
          </a:xfrm>
          <a:prstGeom prst="downArrow">
            <a:avLst/>
          </a:prstGeom>
          <a:solidFill>
            <a:srgbClr val="14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07127" y="2148840"/>
            <a:ext cx="2377440" cy="384048"/>
          </a:xfrm>
          <a:prstGeom prst="round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Create warehouse grid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97880" y="2532888"/>
            <a:ext cx="384048" cy="118872"/>
          </a:xfrm>
          <a:prstGeom prst="downArrow">
            <a:avLst/>
          </a:prstGeom>
          <a:solidFill>
            <a:srgbClr val="14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07127" y="2651760"/>
            <a:ext cx="2377440" cy="384048"/>
          </a:xfrm>
          <a:prstGeom prst="round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Set start and goal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97880" y="3035808"/>
            <a:ext cx="384048" cy="118872"/>
          </a:xfrm>
          <a:prstGeom prst="downArrow">
            <a:avLst/>
          </a:prstGeom>
          <a:solidFill>
            <a:srgbClr val="14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07127" y="3154680"/>
            <a:ext cx="2377440" cy="384048"/>
          </a:xfrm>
          <a:prstGeom prst="round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Run A* Search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97880" y="3538728"/>
            <a:ext cx="384048" cy="118872"/>
          </a:xfrm>
          <a:prstGeom prst="downArrow">
            <a:avLst/>
          </a:prstGeom>
          <a:solidFill>
            <a:srgbClr val="14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4769967" y="3657600"/>
            <a:ext cx="2651760" cy="384048"/>
          </a:xfrm>
          <a:prstGeom prst="diamond">
            <a:avLst/>
          </a:prstGeom>
          <a:solidFill>
            <a:srgbClr val="EE8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Path found?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897880" y="4041648"/>
            <a:ext cx="384048" cy="118872"/>
          </a:xfrm>
          <a:prstGeom prst="downArrow">
            <a:avLst/>
          </a:prstGeom>
          <a:solidFill>
            <a:srgbClr val="14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07127" y="4160520"/>
            <a:ext cx="2377440" cy="384048"/>
          </a:xfrm>
          <a:prstGeom prst="round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Display path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897880" y="4544568"/>
            <a:ext cx="384048" cy="118872"/>
          </a:xfrm>
          <a:prstGeom prst="downArrow">
            <a:avLst/>
          </a:prstGeom>
          <a:solidFill>
            <a:srgbClr val="14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07127" y="4663440"/>
            <a:ext cx="2377440" cy="384048"/>
          </a:xfrm>
          <a:prstGeom prst="roundRect">
            <a:avLst/>
          </a:prstGeom>
          <a:solidFill>
            <a:srgbClr val="2D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Manage tasks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897880" y="5047488"/>
            <a:ext cx="384048" cy="118872"/>
          </a:xfrm>
          <a:prstGeom prst="downArrow">
            <a:avLst/>
          </a:prstGeom>
          <a:solidFill>
            <a:srgbClr val="14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07127" y="5166360"/>
            <a:ext cx="2377440" cy="384048"/>
          </a:xfrm>
          <a:prstGeom prst="ellipse">
            <a:avLst/>
          </a:prstGeom>
          <a:solidFill>
            <a:srgbClr val="14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65760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3748"/>
                </a:solidFill>
                <a:latin typeface="Aptos"/>
              </a:defRPr>
            </a:pPr>
            <a:r>
              <a:t>No → report no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D70B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10.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057400"/>
            <a:ext cx="97840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The project demonstrates warehouse navigation using a grid.</a:t>
            </a:r>
          </a:p>
          <a:p>
            <a:pPr>
              <a:spcAft>
                <a:spcPts val="17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A* Search finds a path while avoiding obstacles.</a:t>
            </a:r>
          </a:p>
          <a:p>
            <a:pPr>
              <a:spcAft>
                <a:spcPts val="17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DFS and Queue demonstrate other useful data structures.</a:t>
            </a:r>
          </a:p>
          <a:p>
            <a:pPr>
              <a:spcAft>
                <a:spcPts val="17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The simulation can be extended with interactive maps and multiple robots.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39496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EDED8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D70B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